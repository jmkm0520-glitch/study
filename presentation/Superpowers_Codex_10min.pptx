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https://github.com/obra/superpowers
https://learn.chatgpt.com/ko-KR/docs/skills-and-plugins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https://github.com/obra/superpowers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https://github.com/obra/superpowers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https://learn.chatgpt.com/ko-KR/docs/skills-and-plugins
https://github.com/obra/superpowers
https://developers.openai.com/codex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https://github.com/obra/superpowers/tree/main/skills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https://learn.chatgpt.com/ko-KR/docs/skills-and-plugins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https://github.com/obra/superpowers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https://github.com/obra/superpowers/tree/main/skills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https://github.com/obra/superpowers/tree/main/skills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https://github.com/obra/superpowers/tree/main/skills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https://github.com/obra/superpowers/tree/main/skills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https://learn.chatgpt.com/ko-KR/docs/plugins
User-provided screenshot captured 2026-09-03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User-provided screenshot captured 2026-09-03
https://learn.chatgpt.com/ko-KR/docs/plugins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User-provided screenshot captured 2026-09-03
https://github.com/obra/superpowers/tree/main/skills/brainstorming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User-provided screenshot captured 2026-09-03
https://github.com/obra/superpowers/tree/main/skills/brainstorming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User-provided screenshot captured 2026-09-03
https://github.com/obra/superpowers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https://github.com/obra/superpowers
https://learn.chatgpt.com/ko-KR/docs/skills-and-plugins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29844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60" kern="0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코딩 에이전트 입문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700784"/>
            <a:ext cx="7132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Superpowers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432304"/>
            <a:ext cx="7132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2F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Codex</a:t>
            </a:r>
            <a:endParaRPr lang="en-US" sz="42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310128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C3CF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AI에게 “무엇을” 시킬지가 아니라,</a:t>
            </a:r>
            <a:endParaRPr lang="en-US" sz="15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C3CF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“어떤 순서로” 일할지 알려주는 플러그인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22960" y="4315968"/>
            <a:ext cx="1915668" cy="384048"/>
          </a:xfrm>
          <a:prstGeom prst="roundRect">
            <a:avLst>
              <a:gd name="adj" fmla="val 47619"/>
            </a:avLst>
          </a:prstGeom>
          <a:solidFill>
            <a:srgbClr val="0F1B33"/>
          </a:solidFill>
          <a:ln w="12700">
            <a:solidFill>
              <a:srgbClr val="33455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4315968"/>
            <a:ext cx="19156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FB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Superpowers란?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903220" y="4315968"/>
            <a:ext cx="1792224" cy="384048"/>
          </a:xfrm>
          <a:prstGeom prst="roundRect">
            <a:avLst>
              <a:gd name="adj" fmla="val 47619"/>
            </a:avLst>
          </a:prstGeom>
          <a:solidFill>
            <a:srgbClr val="0F1B33"/>
          </a:solidFill>
          <a:ln w="12700">
            <a:solidFill>
              <a:srgbClr val="33455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903220" y="4315968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FB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Codex에서 쓰는 법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860036" y="4315968"/>
            <a:ext cx="2409444" cy="384048"/>
          </a:xfrm>
          <a:prstGeom prst="roundRect">
            <a:avLst>
              <a:gd name="adj" fmla="val 47619"/>
            </a:avLst>
          </a:prstGeom>
          <a:solidFill>
            <a:srgbClr val="0F1B33"/>
          </a:solidFill>
          <a:ln w="12700">
            <a:solidFill>
              <a:srgbClr val="33455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60036" y="4315968"/>
            <a:ext cx="24094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FB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모델이 Skill을 고르는 원리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581558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10분 발표 · 입문자용 · 2026-09-03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549640" y="1700784"/>
            <a:ext cx="2834640" cy="2999232"/>
          </a:xfrm>
          <a:prstGeom prst="roundRect">
            <a:avLst>
              <a:gd name="adj" fmla="val 3871"/>
            </a:avLst>
          </a:prstGeom>
          <a:solidFill>
            <a:srgbClr val="1B294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549640" y="208483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120" kern="0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SUPERPOWERS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549640" y="2487168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6000" dirty="0"/>
          </a:p>
        </p:txBody>
      </p:sp>
      <p:sp>
        <p:nvSpPr>
          <p:cNvPr id="16" name="Text 14"/>
          <p:cNvSpPr txBox="1"/>
          <p:nvPr/>
        </p:nvSpPr>
        <p:spPr>
          <a:xfrm>
            <a:off x="8549640" y="341985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549640" y="400507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A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· Develop · Debug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F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109115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오늘 10분 동안 다룰 것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1064240" y="384048"/>
            <a:ext cx="4846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5272888" cy="1737360"/>
          </a:xfrm>
          <a:prstGeom prst="roundRect">
            <a:avLst>
              <a:gd name="adj" fmla="val 3684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7280" y="2286000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2F6B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97280" y="22860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700784" y="2249424"/>
            <a:ext cx="38098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왜 필요한가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1700784" y="2670048"/>
            <a:ext cx="3809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바로 코딩을 시작할 때 생기는 문제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78728" y="1828800"/>
            <a:ext cx="5272888" cy="1737360"/>
          </a:xfrm>
          <a:prstGeom prst="roundRect">
            <a:avLst>
              <a:gd name="adj" fmla="val 3684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735928" y="2286000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2F6BF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735928" y="22860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7339432" y="2249424"/>
            <a:ext cx="38098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무엇인가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7339432" y="2670048"/>
            <a:ext cx="3809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· Superpowers · Codex, 세 단어 정리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931920"/>
            <a:ext cx="5272888" cy="1737360"/>
          </a:xfrm>
          <a:prstGeom prst="roundRect">
            <a:avLst>
              <a:gd name="adj" fmla="val 3684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97280" y="4389120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2F6B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97280" y="43891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700784" y="4352544"/>
            <a:ext cx="38098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어떻게 고르는가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1700784" y="4773168"/>
            <a:ext cx="3809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모델이 Skill을 선택하는 방식과 14개 Skill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278728" y="3931920"/>
            <a:ext cx="5272888" cy="1737360"/>
          </a:xfrm>
          <a:prstGeom prst="roundRect">
            <a:avLst>
              <a:gd name="adj" fmla="val 3684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735928" y="4389120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2F6B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735928" y="43891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7339432" y="4352544"/>
            <a:ext cx="38098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어떻게 쓰는가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7339432" y="4773168"/>
            <a:ext cx="3809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설치부터 실제 결과·검증까지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640080" y="6382512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출처 · github.com/obra/superpowers · learn.chatgpt.com/ko-KR/docs/skills-and-plugins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F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왜 필요한가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109115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바로 코딩하면 빠르지만, 방향이 어긋날 위험이 있습니다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1064240" y="384048"/>
            <a:ext cx="4846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481328"/>
            <a:ext cx="5272888" cy="3803904"/>
          </a:xfrm>
          <a:prstGeom prst="roundRect">
            <a:avLst>
              <a:gd name="adj" fmla="val 1683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24128" y="1810512"/>
            <a:ext cx="4504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73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절차 없이 바로 시작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1024128" y="2267712"/>
            <a:ext cx="4504792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24128" y="2267712"/>
            <a:ext cx="4504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“TODO LIST 만들어줘”  →  바로 구현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24128" y="3108960"/>
            <a:ext cx="450479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1900"/>
              </a:spcAft>
              <a:buSzPct val="100000"/>
              <a:buChar char="•"/>
            </a:pPr>
            <a:r>
              <a:rPr lang="en-US" sz="12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요구사항을 AI가 임의로 해석합니다</a:t>
            </a:r>
            <a:endParaRPr lang="en-US" sz="1250" dirty="0"/>
          </a:p>
          <a:p>
            <a:pPr marL="342900" indent="-342900">
              <a:lnSpc>
                <a:spcPct val="115000"/>
              </a:lnSpc>
              <a:spcAft>
                <a:spcPts val="1900"/>
              </a:spcAft>
              <a:buSzPct val="100000"/>
              <a:buChar char="•"/>
            </a:pPr>
            <a:r>
              <a:rPr lang="en-US" sz="12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완성한 뒤에 수정이 반복됩니다</a:t>
            </a:r>
            <a:endParaRPr lang="en-US" sz="1250" dirty="0"/>
          </a:p>
          <a:p>
            <a:pPr marL="342900" indent="-342900">
              <a:lnSpc>
                <a:spcPct val="115000"/>
              </a:lnSpc>
              <a:spcAft>
                <a:spcPts val="1900"/>
              </a:spcAft>
              <a:buSzPct val="100000"/>
              <a:buChar char="•"/>
            </a:pPr>
            <a:r>
              <a:rPr lang="en-US" sz="12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테스트·검토가 통째로 빠질 수 있습니다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78728" y="1481328"/>
            <a:ext cx="5272888" cy="3803904"/>
          </a:xfrm>
          <a:prstGeom prst="roundRect">
            <a:avLst>
              <a:gd name="adj" fmla="val 1683"/>
            </a:avLst>
          </a:prstGeom>
          <a:solidFill>
            <a:srgbClr val="0F1B3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662776" y="1810512"/>
            <a:ext cx="4504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Superpowers와 함께 시작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662776" y="2267712"/>
            <a:ext cx="4504792" cy="566928"/>
          </a:xfrm>
          <a:prstGeom prst="roundRect">
            <a:avLst>
              <a:gd name="adj" fmla="val 9677"/>
            </a:avLst>
          </a:prstGeom>
          <a:solidFill>
            <a:srgbClr val="1B294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62776" y="2267712"/>
            <a:ext cx="4504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질문 → 설계 → 계획 → 테스트 → 구현 → 검증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662776" y="3108960"/>
            <a:ext cx="450479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1900"/>
              </a:spcAft>
              <a:buSzPct val="100000"/>
              <a:buChar char="•"/>
            </a:pPr>
            <a:r>
              <a:rPr lang="en-US" sz="1250" dirty="0">
                <a:solidFill>
                  <a:srgbClr val="C3CF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시작 전에 방향을 먼저 맞춥니다</a:t>
            </a:r>
            <a:endParaRPr lang="en-US" sz="1250" dirty="0"/>
          </a:p>
          <a:p>
            <a:pPr marL="342900" indent="-342900">
              <a:lnSpc>
                <a:spcPct val="115000"/>
              </a:lnSpc>
              <a:spcAft>
                <a:spcPts val="1900"/>
              </a:spcAft>
              <a:buSzPct val="100000"/>
              <a:buChar char="•"/>
            </a:pPr>
            <a:r>
              <a:rPr lang="en-US" sz="1250" dirty="0">
                <a:solidFill>
                  <a:srgbClr val="C3CF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계획과 테스트가 파일로 남습니다</a:t>
            </a:r>
            <a:endParaRPr lang="en-US" sz="1250" dirty="0"/>
          </a:p>
          <a:p>
            <a:pPr marL="342900" indent="-342900">
              <a:lnSpc>
                <a:spcPct val="115000"/>
              </a:lnSpc>
              <a:spcAft>
                <a:spcPts val="1900"/>
              </a:spcAft>
              <a:buSzPct val="100000"/>
              <a:buChar char="•"/>
            </a:pPr>
            <a:r>
              <a:rPr lang="en-US" sz="1250" dirty="0">
                <a:solidFill>
                  <a:srgbClr val="C3CF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끝에는 증거로 완료를 확인합니다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5541264"/>
            <a:ext cx="10911535" cy="566928"/>
          </a:xfrm>
          <a:prstGeom prst="roundRect">
            <a:avLst>
              <a:gd name="adj" fmla="val 9677"/>
            </a:avLst>
          </a:prstGeom>
          <a:solidFill>
            <a:srgbClr val="EEF3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4400" y="5541264"/>
            <a:ext cx="103628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4F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— AI가 얼마나 똑똑한지보다, 어떤 순서로 일하게 하는지가 결과를 좌우합니다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F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무엇인가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109115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세 단어만 알면 됩니다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1064240" y="384048"/>
            <a:ext cx="4846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481328"/>
            <a:ext cx="3393338" cy="3200400"/>
          </a:xfrm>
          <a:prstGeom prst="roundRect">
            <a:avLst>
              <a:gd name="adj" fmla="val 2000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42416" y="1883664"/>
            <a:ext cx="384048" cy="384048"/>
          </a:xfrm>
          <a:prstGeom prst="roundRect">
            <a:avLst>
              <a:gd name="adj" fmla="val 21429"/>
            </a:avLst>
          </a:prstGeom>
          <a:solidFill>
            <a:srgbClr val="0F1B33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42416" y="18836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42416" y="2450592"/>
            <a:ext cx="25886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1042416" y="2889504"/>
            <a:ext cx="25886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AI가 따르는 작업 지침서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1042416" y="3328416"/>
            <a:ext cx="258866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특정 상황에서 따라야 할 순서와 기준을 적어 둔, 재사용 가능한 문서입니다.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99178" y="1481328"/>
            <a:ext cx="3393338" cy="3200400"/>
          </a:xfrm>
          <a:prstGeom prst="roundRect">
            <a:avLst>
              <a:gd name="adj" fmla="val 2000"/>
            </a:avLst>
          </a:prstGeom>
          <a:solidFill>
            <a:srgbClr val="EEF3FF"/>
          </a:solidFill>
          <a:ln w="12700">
            <a:solidFill>
              <a:srgbClr val="D3E0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801514" y="1883664"/>
            <a:ext cx="384048" cy="384048"/>
          </a:xfrm>
          <a:prstGeom prst="roundRect">
            <a:avLst>
              <a:gd name="adj" fmla="val 21429"/>
            </a:avLst>
          </a:prstGeom>
          <a:solidFill>
            <a:srgbClr val="2F6BF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01514" y="18836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801514" y="2450592"/>
            <a:ext cx="25886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Superpowers</a:t>
            </a:r>
            <a:endParaRPr lang="en-US" sz="2100" dirty="0"/>
          </a:p>
        </p:txBody>
      </p:sp>
      <p:sp>
        <p:nvSpPr>
          <p:cNvPr id="15" name="Text 13"/>
          <p:cNvSpPr txBox="1"/>
          <p:nvPr/>
        </p:nvSpPr>
        <p:spPr>
          <a:xfrm>
            <a:off x="4801514" y="2889504"/>
            <a:ext cx="25886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4F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14개를 모은 오픈소스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801514" y="3328416"/>
            <a:ext cx="258866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Brainstorming·TDD·검증 등 개발 절차를 묶어 GitHub에 공개한 플러그인입니다.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158277" y="1481328"/>
            <a:ext cx="3393338" cy="3200400"/>
          </a:xfrm>
          <a:prstGeom prst="roundRect">
            <a:avLst>
              <a:gd name="adj" fmla="val 2000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60613" y="1883664"/>
            <a:ext cx="384048" cy="384048"/>
          </a:xfrm>
          <a:prstGeom prst="roundRect">
            <a:avLst>
              <a:gd name="adj" fmla="val 21429"/>
            </a:avLst>
          </a:prstGeom>
          <a:solidFill>
            <a:srgbClr val="0F1B33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60613" y="18836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560613" y="2450592"/>
            <a:ext cx="25886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Codex</a:t>
            </a:r>
            <a:endParaRPr lang="en-US" sz="2100" dirty="0"/>
          </a:p>
        </p:txBody>
      </p:sp>
      <p:sp>
        <p:nvSpPr>
          <p:cNvPr id="21" name="Text 19"/>
          <p:cNvSpPr txBox="1"/>
          <p:nvPr/>
        </p:nvSpPr>
        <p:spPr>
          <a:xfrm>
            <a:off x="8560613" y="2889504"/>
            <a:ext cx="25886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실제로 작업하는 AI 에이전트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8560613" y="3328416"/>
            <a:ext cx="258866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답변만 하는 챗봇과 달리, 파일을 직접 고치고 명령을 실행하고 테스트로 결과까지 확인합니다.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40080" y="4974336"/>
            <a:ext cx="10911535" cy="713232"/>
          </a:xfrm>
          <a:prstGeom prst="roundRect">
            <a:avLst>
              <a:gd name="adj" fmla="val 8974"/>
            </a:avLst>
          </a:prstGeom>
          <a:solidFill>
            <a:srgbClr val="0F1B3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40080" y="4974336"/>
            <a:ext cx="109115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</a:t>
            </a:r>
            <a:pPr algn="ctr" indent="0" marL="0">
              <a:buNone/>
            </a:pPr>
            <a:r>
              <a:rPr lang="en-US" sz="1450" dirty="0">
                <a:solidFill>
                  <a:srgbClr val="6E7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</a:t>
            </a:r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Superpowers (플러그인)</a:t>
            </a:r>
            <a:pPr algn="ctr" indent="0" marL="0">
              <a:buNone/>
            </a:pPr>
            <a:r>
              <a:rPr lang="en-US" sz="1450" dirty="0">
                <a:solidFill>
                  <a:srgbClr val="6E7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</a:t>
            </a:r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Codex</a:t>
            </a:r>
            <a:pPr algn="ctr" indent="0" marL="0">
              <a:buNone/>
            </a:pPr>
            <a:r>
              <a:rPr lang="en-US" sz="1450" dirty="0">
                <a:solidFill>
                  <a:srgbClr val="6E7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</a:t>
            </a:r>
            <a:pPr algn="ctr" indent="0" marL="0">
              <a:buNone/>
            </a:pPr>
            <a:r>
              <a:rPr lang="en-US" sz="1450" b="1" dirty="0">
                <a:solidFill>
                  <a:srgbClr val="7F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검증된 결과물</a:t>
            </a:r>
            <a:endParaRPr lang="en-US" sz="1450" dirty="0"/>
          </a:p>
        </p:txBody>
      </p:sp>
      <p:sp>
        <p:nvSpPr>
          <p:cNvPr id="25" name="Text 23"/>
          <p:cNvSpPr txBox="1"/>
          <p:nvPr/>
        </p:nvSpPr>
        <p:spPr>
          <a:xfrm>
            <a:off x="640080" y="6382512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플러그인으로 설치하면 Codex가 필요한 Skill을 읽고 그 절차대로 작업·검증합니다. · 앱 · CLI · IDE 등 사용 환경에 따라 쓸 수 있는 기능은 달라질 수 있습니다.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F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무엇인가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109115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Superpowers는 GitHub에 공개된 저장소입니다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1064240" y="384048"/>
            <a:ext cx="4846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85216" y="1426464"/>
            <a:ext cx="6053328" cy="4131108"/>
          </a:xfrm>
          <a:prstGeom prst="roundRect">
            <a:avLst>
              <a:gd name="adj" fmla="val 1328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pic>
        <p:nvPicPr>
          <p:cNvPr id="6" name="Image 0" descr="img/g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81328"/>
            <a:ext cx="5943600" cy="40213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132320" y="1481328"/>
            <a:ext cx="365760" cy="365760"/>
          </a:xfrm>
          <a:prstGeom prst="roundRect">
            <a:avLst>
              <a:gd name="adj" fmla="val 22500"/>
            </a:avLst>
          </a:prstGeom>
          <a:solidFill>
            <a:srgbClr val="2F6BF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132320" y="1481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7662672" y="1463040"/>
            <a:ext cx="388894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공개 저장소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7662672" y="1792224"/>
            <a:ext cx="38889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obra/superpowers — 누구나 열어 볼 수 있습니다.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7132320" y="2542032"/>
            <a:ext cx="365760" cy="365760"/>
          </a:xfrm>
          <a:prstGeom prst="roundRect">
            <a:avLst>
              <a:gd name="adj" fmla="val 22500"/>
            </a:avLst>
          </a:prstGeom>
          <a:solidFill>
            <a:srgbClr val="2F6BF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132320" y="25420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7662672" y="2523744"/>
            <a:ext cx="388894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skills/ 폴더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7662672" y="2852928"/>
            <a:ext cx="38889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 상황별 지침이 폴더 하나씩으로 정리돼 있습니다.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7132320" y="3602736"/>
            <a:ext cx="365760" cy="365760"/>
          </a:xfrm>
          <a:prstGeom prst="roundRect">
            <a:avLst>
              <a:gd name="adj" fmla="val 22500"/>
            </a:avLst>
          </a:prstGeom>
          <a:solidFill>
            <a:srgbClr val="2F6BFF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7132320" y="36027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7662672" y="3584448"/>
            <a:ext cx="388894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14개 Skill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7662672" y="3913632"/>
            <a:ext cx="38889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brainstorming · executing-plans · systematic-debugging …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132320" y="4791456"/>
            <a:ext cx="4419295" cy="1024128"/>
          </a:xfrm>
          <a:prstGeom prst="roundRect">
            <a:avLst>
              <a:gd name="adj" fmla="val 5357"/>
            </a:avLst>
          </a:prstGeom>
          <a:solidFill>
            <a:srgbClr val="EEF3F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7406640" y="4956048"/>
            <a:ext cx="3870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4F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한 줄 정리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7406640" y="5230368"/>
            <a:ext cx="38706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73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하나의 기능이 아니라, 개발 절차를 담은 Skill 모음입니다.</a:t>
            </a:r>
            <a:endParaRPr lang="en-US" sz="1250" dirty="0"/>
          </a:p>
        </p:txBody>
      </p:sp>
      <p:sp>
        <p:nvSpPr>
          <p:cNvPr id="22" name="Text 19"/>
          <p:cNvSpPr txBox="1"/>
          <p:nvPr/>
        </p:nvSpPr>
        <p:spPr>
          <a:xfrm>
            <a:off x="640080" y="6382512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 GitHub 화면 · github.com/obra/superpowers/tree/main/skills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F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어떻게 고르는가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109115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모델은 요청과 Skill 설명을 비교해 절차를 고릅니다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1064240" y="384048"/>
            <a:ext cx="4846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572768"/>
            <a:ext cx="2021373" cy="1847088"/>
          </a:xfrm>
          <a:prstGeom prst="roundRect">
            <a:avLst>
              <a:gd name="adj" fmla="val 3465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847088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0F1B33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14400" y="1847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77824" y="2340864"/>
            <a:ext cx="154588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사용자 요청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877824" y="2706624"/>
            <a:ext cx="154588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“오류 원인을 찾아줘”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2661453" y="2304288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2862621" y="1572768"/>
            <a:ext cx="2021373" cy="1847088"/>
          </a:xfrm>
          <a:prstGeom prst="roundRect">
            <a:avLst>
              <a:gd name="adj" fmla="val 3465"/>
            </a:avLst>
          </a:prstGeom>
          <a:solidFill>
            <a:srgbClr val="EEF3FF"/>
          </a:solidFill>
          <a:ln w="12700">
            <a:solidFill>
              <a:srgbClr val="D3E0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136941" y="1847088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2F6BF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136941" y="1847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100365" y="2340864"/>
            <a:ext cx="154588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목록 확인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3100365" y="2706624"/>
            <a:ext cx="154588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이름과 설명을 훑습니다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883993" y="2304288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5085161" y="1572768"/>
            <a:ext cx="2021373" cy="1847088"/>
          </a:xfrm>
          <a:prstGeom prst="roundRect">
            <a:avLst>
              <a:gd name="adj" fmla="val 3465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359481" y="1847088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0F1B33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359481" y="1847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322905" y="2340864"/>
            <a:ext cx="154588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용도 비교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5322905" y="2706624"/>
            <a:ext cx="154588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요청과 맞는지 판단합니다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7106534" y="2304288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7307702" y="1572768"/>
            <a:ext cx="2021373" cy="1847088"/>
          </a:xfrm>
          <a:prstGeom prst="roundRect">
            <a:avLst>
              <a:gd name="adj" fmla="val 3465"/>
            </a:avLst>
          </a:prstGeom>
          <a:solidFill>
            <a:srgbClr val="EEF3FF"/>
          </a:solidFill>
          <a:ln w="12700">
            <a:solidFill>
              <a:srgbClr val="D3E0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582022" y="1847088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2F6BF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582022" y="1847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7545446" y="2340864"/>
            <a:ext cx="154588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호출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7545446" y="2706624"/>
            <a:ext cx="154588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전체 지침을 읽습니다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9329075" y="2304288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29" name="Shape 27"/>
          <p:cNvSpPr/>
          <p:nvPr/>
        </p:nvSpPr>
        <p:spPr>
          <a:xfrm>
            <a:off x="9530243" y="1572768"/>
            <a:ext cx="2021373" cy="1847088"/>
          </a:xfrm>
          <a:prstGeom prst="roundRect">
            <a:avLst>
              <a:gd name="adj" fmla="val 3465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804563" y="1847088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0F1B33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9804563" y="1847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9767987" y="2340864"/>
            <a:ext cx="154588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절차 실행</a:t>
            </a:r>
            <a:endParaRPr lang="en-US" sz="1350" dirty="0"/>
          </a:p>
        </p:txBody>
      </p:sp>
      <p:sp>
        <p:nvSpPr>
          <p:cNvPr id="33" name="Text 31"/>
          <p:cNvSpPr txBox="1"/>
          <p:nvPr/>
        </p:nvSpPr>
        <p:spPr>
          <a:xfrm>
            <a:off x="9767987" y="2706624"/>
            <a:ext cx="154588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진단·검증을 수행합니다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40080" y="3968496"/>
            <a:ext cx="5272888" cy="1371600"/>
          </a:xfrm>
          <a:prstGeom prst="roundRect">
            <a:avLst>
              <a:gd name="adj" fmla="val 4667"/>
            </a:avLst>
          </a:prstGeom>
          <a:solidFill>
            <a:srgbClr val="0F1B33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1024128" y="4242816"/>
            <a:ext cx="4504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자동 호출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1024128" y="4626864"/>
            <a:ext cx="4504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3CF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요청의 의미가 Skill 설명과 맞으면 모델이 알아서 선택합니다.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6278728" y="3968496"/>
            <a:ext cx="5272888" cy="1371600"/>
          </a:xfrm>
          <a:prstGeom prst="roundRect">
            <a:avLst>
              <a:gd name="adj" fmla="val 4667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662776" y="4242816"/>
            <a:ext cx="4504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직접 호출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6662776" y="4626864"/>
            <a:ext cx="4504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Codex에서 $로 고르거나 “Brainstorming Skill을 써줘”라고 지정합니다.</a:t>
            </a:r>
            <a:endParaRPr lang="en-US" sz="1250" dirty="0"/>
          </a:p>
        </p:txBody>
      </p:sp>
      <p:sp>
        <p:nvSpPr>
          <p:cNvPr id="40" name="Text 38"/>
          <p:cNvSpPr txBox="1"/>
          <p:nvPr/>
        </p:nvSpPr>
        <p:spPr>
          <a:xfrm>
            <a:off x="640080" y="6382512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출처 · learn.chatgpt.com/ko-KR/docs/skills-and-plugins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F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어떻게 고르는가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109115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아이디어에서 완료까지, 한 줄로 이어집니다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1064240" y="384048"/>
            <a:ext cx="4846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664208"/>
            <a:ext cx="2006742" cy="2103120"/>
          </a:xfrm>
          <a:prstGeom prst="roundRect">
            <a:avLst>
              <a:gd name="adj" fmla="val 3190"/>
            </a:avLst>
          </a:prstGeom>
          <a:solidFill>
            <a:srgbClr val="F2F4F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77824" y="1920240"/>
            <a:ext cx="15312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877824" y="2322576"/>
            <a:ext cx="153125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아이디어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877824" y="2999232"/>
            <a:ext cx="15312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만들고 싶은 것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646822" y="2532888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866278" y="1664208"/>
            <a:ext cx="2006742" cy="2103120"/>
          </a:xfrm>
          <a:prstGeom prst="roundRect">
            <a:avLst>
              <a:gd name="adj" fmla="val 3190"/>
            </a:avLst>
          </a:prstGeom>
          <a:solidFill>
            <a:srgbClr val="E4EBF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104022" y="1920240"/>
            <a:ext cx="15312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104022" y="2322576"/>
            <a:ext cx="153125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Brainstorming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3104022" y="2999232"/>
            <a:ext cx="15312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질문 · 대안 · 설계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873020" y="2532888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092476" y="1664208"/>
            <a:ext cx="2006742" cy="2103120"/>
          </a:xfrm>
          <a:prstGeom prst="roundRect">
            <a:avLst>
              <a:gd name="adj" fmla="val 3190"/>
            </a:avLst>
          </a:prstGeom>
          <a:solidFill>
            <a:srgbClr val="CBD9F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330220" y="1920240"/>
            <a:ext cx="15312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330220" y="2322576"/>
            <a:ext cx="153125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Plans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5330220" y="2999232"/>
            <a:ext cx="15312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파일 · 테스트 · 순서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7099219" y="2532888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318675" y="1664208"/>
            <a:ext cx="2006742" cy="2103120"/>
          </a:xfrm>
          <a:prstGeom prst="roundRect">
            <a:avLst>
              <a:gd name="adj" fmla="val 3190"/>
            </a:avLst>
          </a:prstGeom>
          <a:solidFill>
            <a:srgbClr val="5B8BF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556419" y="1920240"/>
            <a:ext cx="15312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FB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7556419" y="2322576"/>
            <a:ext cx="153125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TDD 구현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7556419" y="2999232"/>
            <a:ext cx="15312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4EB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→ GREEN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9325417" y="2532888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9544873" y="1664208"/>
            <a:ext cx="2006742" cy="2103120"/>
          </a:xfrm>
          <a:prstGeom prst="roundRect">
            <a:avLst>
              <a:gd name="adj" fmla="val 3190"/>
            </a:avLst>
          </a:prstGeom>
          <a:solidFill>
            <a:srgbClr val="0F1B3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782617" y="1920240"/>
            <a:ext cx="15312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FB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9782617" y="2322576"/>
            <a:ext cx="153125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검증 · 완료</a:t>
            </a:r>
            <a:endParaRPr lang="en-US" sz="1450" dirty="0"/>
          </a:p>
        </p:txBody>
      </p:sp>
      <p:sp>
        <p:nvSpPr>
          <p:cNvPr id="28" name="Text 26"/>
          <p:cNvSpPr txBox="1"/>
          <p:nvPr/>
        </p:nvSpPr>
        <p:spPr>
          <a:xfrm>
            <a:off x="9782617" y="2999232"/>
            <a:ext cx="15312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FB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테스트 · 리뷰 · 브랜치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40080" y="4279392"/>
            <a:ext cx="10911535" cy="932688"/>
          </a:xfrm>
          <a:prstGeom prst="roundRect">
            <a:avLst>
              <a:gd name="adj" fmla="val 5882"/>
            </a:avLst>
          </a:prstGeom>
          <a:solidFill>
            <a:srgbClr val="FDF2E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914400" y="4279392"/>
            <a:ext cx="1036289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6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작업 중 오류가 생기면  </a:t>
            </a:r>
            <a:pPr algn="ctr" indent="0" marL="0">
              <a:buNone/>
            </a:pPr>
            <a:r>
              <a:rPr lang="en-US" sz="1300" b="1" dirty="0">
                <a:solidFill>
                  <a:srgbClr val="B46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Systematic Debugging</a:t>
            </a:r>
            <a:pPr algn="ctr" indent="0" marL="0">
              <a:buNone/>
            </a:pPr>
            <a:r>
              <a:rPr lang="en-US" sz="1300" dirty="0">
                <a:solidFill>
                  <a:srgbClr val="8A6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으로 원인부터 찾은 뒤 다시 흐름에 복귀합니다.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" y="5431536"/>
            <a:ext cx="10911535" cy="566928"/>
          </a:xfrm>
          <a:prstGeom prst="roundRect">
            <a:avLst>
              <a:gd name="adj" fmla="val 9677"/>
            </a:avLst>
          </a:prstGeom>
          <a:solidFill>
            <a:srgbClr val="EEF3FF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914400" y="5431536"/>
            <a:ext cx="103628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4F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이해 → 계획 → 구현 → 검증. 각 단계의 결과가 다음 단계의 입력이 됩니다.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F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어떻게 고르는가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109115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14개 Skill은 세 묶음으로 나뉩니다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1064240" y="384048"/>
            <a:ext cx="4846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481328"/>
            <a:ext cx="3393338" cy="3566160"/>
          </a:xfrm>
          <a:prstGeom prst="roundRect">
            <a:avLst>
              <a:gd name="adj" fmla="val 1886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42416" y="1883664"/>
            <a:ext cx="258866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6600" dirty="0"/>
          </a:p>
        </p:txBody>
      </p:sp>
      <p:sp>
        <p:nvSpPr>
          <p:cNvPr id="7" name="Text 5"/>
          <p:cNvSpPr txBox="1"/>
          <p:nvPr/>
        </p:nvSpPr>
        <p:spPr>
          <a:xfrm>
            <a:off x="1042416" y="3054096"/>
            <a:ext cx="258866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 Skill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042416" y="3456432"/>
            <a:ext cx="25886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계획 · 준비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1042416" y="3913632"/>
            <a:ext cx="258866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코드를 쓰기 전에 무엇을 만들지, 어떤 순서로 할지 확정합니다.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99178" y="1481328"/>
            <a:ext cx="3393338" cy="3566160"/>
          </a:xfrm>
          <a:prstGeom prst="roundRect">
            <a:avLst>
              <a:gd name="adj" fmla="val 1886"/>
            </a:avLst>
          </a:prstGeom>
          <a:solidFill>
            <a:srgbClr val="EEF3FF"/>
          </a:solidFill>
          <a:ln w="12700">
            <a:solidFill>
              <a:srgbClr val="D3E0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01514" y="1883664"/>
            <a:ext cx="258866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1E4F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6600" dirty="0"/>
          </a:p>
        </p:txBody>
      </p:sp>
      <p:sp>
        <p:nvSpPr>
          <p:cNvPr id="12" name="Text 10"/>
          <p:cNvSpPr txBox="1"/>
          <p:nvPr/>
        </p:nvSpPr>
        <p:spPr>
          <a:xfrm>
            <a:off x="4801514" y="3054096"/>
            <a:ext cx="258866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 Skill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801514" y="3456432"/>
            <a:ext cx="25886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구현 · 협업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4801514" y="3913632"/>
            <a:ext cx="258866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계획을 지키면서 작은 결과를 만들고 계속 확인합니다.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158277" y="1481328"/>
            <a:ext cx="3393338" cy="3566160"/>
          </a:xfrm>
          <a:prstGeom prst="roundRect">
            <a:avLst>
              <a:gd name="adj" fmla="val 1886"/>
            </a:avLst>
          </a:prstGeom>
          <a:solidFill>
            <a:srgbClr val="0F1B3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560613" y="1883664"/>
            <a:ext cx="258866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6600" dirty="0"/>
          </a:p>
        </p:txBody>
      </p:sp>
      <p:sp>
        <p:nvSpPr>
          <p:cNvPr id="17" name="Text 15"/>
          <p:cNvSpPr txBox="1"/>
          <p:nvPr/>
        </p:nvSpPr>
        <p:spPr>
          <a:xfrm>
            <a:off x="8560613" y="3054096"/>
            <a:ext cx="258866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 Skill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560613" y="3456432"/>
            <a:ext cx="25886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품질 · 완료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8560613" y="3913632"/>
            <a:ext cx="258866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3CF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“된 것 같다”가 아니라 확인된 결과로 마무리합니다.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40080" y="5358384"/>
            <a:ext cx="10911535" cy="566928"/>
          </a:xfrm>
          <a:prstGeom prst="roundRect">
            <a:avLst>
              <a:gd name="adj" fmla="val 9677"/>
            </a:avLst>
          </a:prstGeom>
          <a:solidFill>
            <a:srgbClr val="EEF3F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14400" y="5358384"/>
            <a:ext cx="103628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4F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14개 = 계획·준비 4개 + 구현·협업 4개 + 품질·완료 6개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6382512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이름과 개수는 Superpowers 6.3.0 기준입니다. · github.com/obra/superpowers/tree/main/skills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F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어떻게 고르는가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109115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계획 · 준비 — 코드를 쓰기 전에 범위를 확정합니다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1064240" y="384048"/>
            <a:ext cx="4846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481328"/>
            <a:ext cx="5300320" cy="1700784"/>
          </a:xfrm>
          <a:prstGeom prst="roundRect">
            <a:avLst>
              <a:gd name="adj" fmla="val 3763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50976" y="1773936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2F6B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50976" y="17739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353312" y="1755648"/>
            <a:ext cx="429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using-superpowers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50976" y="2231136"/>
            <a:ext cx="46785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작업을 시작하기 전에 지금 상황에 맞는 Skill이 있는지 먼저 확인하고 사용합니다.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51296" y="1481328"/>
            <a:ext cx="5300320" cy="1700784"/>
          </a:xfrm>
          <a:prstGeom prst="roundRect">
            <a:avLst>
              <a:gd name="adj" fmla="val 3763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62192" y="1773936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2F6BF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62192" y="17739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6964528" y="1755648"/>
            <a:ext cx="429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brainstorming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562192" y="2231136"/>
            <a:ext cx="46785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코딩 전에 질문 → 대안 → 설계를 정리합니다. 승인 전에는 구현하지 않습니다.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3474720"/>
            <a:ext cx="5300320" cy="1700784"/>
          </a:xfrm>
          <a:prstGeom prst="roundRect">
            <a:avLst>
              <a:gd name="adj" fmla="val 3763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50976" y="3767328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2F6B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50976" y="37673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353312" y="3749040"/>
            <a:ext cx="429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writing-plans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" y="4224528"/>
            <a:ext cx="46785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승인된 설계를 파일·테스트·작업 순서로 잘게 나눈 구현 계획서로 만듭니다.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251296" y="3474720"/>
            <a:ext cx="5300320" cy="1700784"/>
          </a:xfrm>
          <a:prstGeom prst="roundRect">
            <a:avLst>
              <a:gd name="adj" fmla="val 3763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562192" y="3767328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2F6B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62192" y="37673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964528" y="3749040"/>
            <a:ext cx="429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using-git-worktrees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562192" y="4224528"/>
            <a:ext cx="46785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기존 작업과 분리된 안전한 작업 공간을 미리 준비합니다.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40080" y="5358384"/>
            <a:ext cx="10911535" cy="566928"/>
          </a:xfrm>
          <a:prstGeom prst="roundRect">
            <a:avLst>
              <a:gd name="adj" fmla="val 9677"/>
            </a:avLst>
          </a:prstGeom>
          <a:solidFill>
            <a:srgbClr val="EEF3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14400" y="5358384"/>
            <a:ext cx="103628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4F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공통 목적 — 코드를 쓰기 전에 “범위”와 “순서”를 확정합니다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640080" y="6382512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이름은 Superpowers 6.3.0 기준입니다.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F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어떻게 고르는가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109115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구현 · 협업 — 계획대로 작게 만들고 계속 확인합니다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1064240" y="384048"/>
            <a:ext cx="4846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481328"/>
            <a:ext cx="5300320" cy="1700784"/>
          </a:xfrm>
          <a:prstGeom prst="roundRect">
            <a:avLst>
              <a:gd name="adj" fmla="val 3763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50976" y="1773936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2F6B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50976" y="17739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353312" y="1755648"/>
            <a:ext cx="429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test-driven-development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50976" y="2231136"/>
            <a:ext cx="46785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실패하는 테스트를 먼저 만들고, 그것을 통과하는 최소한의 코드를 씁니다.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51296" y="1481328"/>
            <a:ext cx="5300320" cy="1700784"/>
          </a:xfrm>
          <a:prstGeom prst="roundRect">
            <a:avLst>
              <a:gd name="adj" fmla="val 3763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62192" y="1773936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2F6BF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62192" y="17739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6964528" y="1755648"/>
            <a:ext cx="429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executing-plans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562192" y="2231136"/>
            <a:ext cx="46785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작성된 계획을 체크포인트별로, 순서대로 실행합니다.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3474720"/>
            <a:ext cx="5300320" cy="1700784"/>
          </a:xfrm>
          <a:prstGeom prst="roundRect">
            <a:avLst>
              <a:gd name="adj" fmla="val 3763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50976" y="3767328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2F6B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50976" y="37673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353312" y="3749040"/>
            <a:ext cx="429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subagent-driven-development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" y="4224528"/>
            <a:ext cx="46785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작업마다 새 에이전트가 구현하고 단계마다 리뷰를 받습니다.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251296" y="3474720"/>
            <a:ext cx="5300320" cy="1700784"/>
          </a:xfrm>
          <a:prstGeom prst="roundRect">
            <a:avLst>
              <a:gd name="adj" fmla="val 3763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562192" y="3767328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2F6B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62192" y="37673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964528" y="3749040"/>
            <a:ext cx="429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dispatching-parallel-agents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562192" y="4224528"/>
            <a:ext cx="46785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서로 의존하지 않는 일은 여러 에이전트로 나눠 동시에 처리합니다.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40080" y="5358384"/>
            <a:ext cx="10911535" cy="566928"/>
          </a:xfrm>
          <a:prstGeom prst="roundRect">
            <a:avLst>
              <a:gd name="adj" fmla="val 9677"/>
            </a:avLst>
          </a:prstGeom>
          <a:solidFill>
            <a:srgbClr val="EEF3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14400" y="5358384"/>
            <a:ext cx="103628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4F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공통 목적 — 계획을 지키면서 작은 결과를 만들고 매번 확인합니다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640080" y="6382512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Subagent 관련 기능은 사용 환경과 설정에 따라 달라질 수 있습니다.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F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어떻게 고르는가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109115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품질 · 완료 — 확인된 결과로 마무리합니다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1064240" y="384048"/>
            <a:ext cx="4846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481328"/>
            <a:ext cx="3429914" cy="1700784"/>
          </a:xfrm>
          <a:prstGeom prst="roundRect">
            <a:avLst>
              <a:gd name="adj" fmla="val 3763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50976" y="1773936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2F6B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50976" y="17739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353312" y="1755648"/>
            <a:ext cx="24240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systematic-debugging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50976" y="2231136"/>
            <a:ext cx="280812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추측 대신 재현 → 증거 → 원인 순으로 확인합니다.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80890" y="1481328"/>
            <a:ext cx="3429914" cy="1700784"/>
          </a:xfrm>
          <a:prstGeom prst="roundRect">
            <a:avLst>
              <a:gd name="adj" fmla="val 3763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91786" y="1773936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2F6BF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691786" y="17739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5094122" y="1755648"/>
            <a:ext cx="24240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requesting-code-review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691786" y="2231136"/>
            <a:ext cx="280812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요구사항과 구현이 맞는지 검토를 요청합니다.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21701" y="1481328"/>
            <a:ext cx="3429914" cy="1700784"/>
          </a:xfrm>
          <a:prstGeom prst="roundRect">
            <a:avLst>
              <a:gd name="adj" fmla="val 3763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32597" y="1773936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2F6B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432597" y="17739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834933" y="1755648"/>
            <a:ext cx="24240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receiving-code-review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432597" y="2231136"/>
            <a:ext cx="280812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받은 피드백을 그대로 받지 않고 검증한 뒤 반영합니다.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3474720"/>
            <a:ext cx="3429914" cy="1700784"/>
          </a:xfrm>
          <a:prstGeom prst="roundRect">
            <a:avLst>
              <a:gd name="adj" fmla="val 3763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50976" y="3767328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2F6B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50976" y="37673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1353312" y="3749040"/>
            <a:ext cx="24240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verification-before-completion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950976" y="4224528"/>
            <a:ext cx="280812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테스트를 돌려 통과한 뒤에야 완료를 선언합니다.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380890" y="3474720"/>
            <a:ext cx="3429914" cy="1700784"/>
          </a:xfrm>
          <a:prstGeom prst="roundRect">
            <a:avLst>
              <a:gd name="adj" fmla="val 3763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91786" y="3767328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2F6BFF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691786" y="37673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5094122" y="3749040"/>
            <a:ext cx="24240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finishing-a-development-branch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4691786" y="4224528"/>
            <a:ext cx="280812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병합 · PR · 브랜치 유지 중 하나를 골라 마무리합니다.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121701" y="3474720"/>
            <a:ext cx="3429914" cy="1700784"/>
          </a:xfrm>
          <a:prstGeom prst="roundRect">
            <a:avLst>
              <a:gd name="adj" fmla="val 3763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432597" y="3767328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2F6BFF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432597" y="37673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8834933" y="3749040"/>
            <a:ext cx="24240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writing-skills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8432597" y="4224528"/>
            <a:ext cx="280812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새 Skill을 직접 만들고 수정 · 검증합니다.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40080" y="5358384"/>
            <a:ext cx="10911535" cy="566928"/>
          </a:xfrm>
          <a:prstGeom prst="roundRect">
            <a:avLst>
              <a:gd name="adj" fmla="val 9677"/>
            </a:avLst>
          </a:prstGeom>
          <a:solidFill>
            <a:srgbClr val="EEF3FF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914400" y="5358384"/>
            <a:ext cx="103628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4F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공통 목적 — “된 것 같다”가 아니라 확인된 결과로 끝냅니다</a:t>
            </a:r>
            <a:endParaRPr lang="en-US" sz="1350" dirty="0"/>
          </a:p>
        </p:txBody>
      </p:sp>
      <p:sp>
        <p:nvSpPr>
          <p:cNvPr id="37" name="Text 35"/>
          <p:cNvSpPr txBox="1"/>
          <p:nvPr/>
        </p:nvSpPr>
        <p:spPr>
          <a:xfrm>
            <a:off x="640080" y="6382512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이름은 Superpowers 6.3.0 기준입니다. · github.com/obra/superpowers/tree/main/skills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F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어떻게 쓰는가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109115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Codex 앱에서 클릭 몇 번으로 설치합니다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1064240" y="384048"/>
            <a:ext cx="4846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194664" y="1426464"/>
            <a:ext cx="9802368" cy="2879054"/>
          </a:xfrm>
          <a:prstGeom prst="roundRect">
            <a:avLst>
              <a:gd name="adj" fmla="val 1906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pic>
        <p:nvPicPr>
          <p:cNvPr id="6" name="Image 0" descr="img/se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49528" y="1481328"/>
            <a:ext cx="9692640" cy="276932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40080" y="4634702"/>
            <a:ext cx="2522144" cy="1371600"/>
          </a:xfrm>
          <a:prstGeom prst="roundRect">
            <a:avLst>
              <a:gd name="adj" fmla="val 4667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14400" y="4890734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2F6BF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14400" y="489073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298448" y="4872446"/>
            <a:ext cx="1607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플러그인 메뉴 열기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914400" y="5329646"/>
            <a:ext cx="19735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왼쪽 메뉴에서 “플러그인”을 선택합니다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436544" y="4634702"/>
            <a:ext cx="2522144" cy="1371600"/>
          </a:xfrm>
          <a:prstGeom prst="roundRect">
            <a:avLst>
              <a:gd name="adj" fmla="val 4667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710864" y="4890734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2F6BF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710864" y="489073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4094912" y="4872446"/>
            <a:ext cx="1607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superpowers 검색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3710864" y="5329646"/>
            <a:ext cx="19735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검색창에 이름을 입력합니다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233008" y="4634702"/>
            <a:ext cx="2522144" cy="1371600"/>
          </a:xfrm>
          <a:prstGeom prst="roundRect">
            <a:avLst>
              <a:gd name="adj" fmla="val 4667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507328" y="4890734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2F6BFF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507328" y="489073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6891376" y="4872446"/>
            <a:ext cx="1607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설치 클릭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6507328" y="5329646"/>
            <a:ext cx="19735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결과 카드의 “설치” 버튼을 누릅니다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9029471" y="4634702"/>
            <a:ext cx="2522144" cy="1371600"/>
          </a:xfrm>
          <a:prstGeom prst="roundRect">
            <a:avLst>
              <a:gd name="adj" fmla="val 4667"/>
            </a:avLst>
          </a:prstGeom>
          <a:solidFill>
            <a:srgbClr val="EEF3FF"/>
          </a:solidFill>
          <a:ln w="12700">
            <a:solidFill>
              <a:srgbClr val="D3E0F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9303791" y="4890734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2F6BFF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9303791" y="489073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9687839" y="4872446"/>
            <a:ext cx="1607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새 채팅에서 사용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9303791" y="5329646"/>
            <a:ext cx="19735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새 작업을 열고 필요한 Skill을 요청합니다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640080" y="6382512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CLI에서는 /plugins 또는 plugin add 명령으로도 설치할 수 있습니다. · 실제 설치 화면 2026-09-03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F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어떻게 쓰는가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109115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설치 후에는 14개 Skill을 켜고 끌 수 있습니다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1064240" y="384048"/>
            <a:ext cx="4846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85216" y="1426464"/>
            <a:ext cx="4844345" cy="4425696"/>
          </a:xfrm>
          <a:prstGeom prst="roundRect">
            <a:avLst>
              <a:gd name="adj" fmla="val 1240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pic>
        <p:nvPicPr>
          <p:cNvPr id="6" name="Image 0" descr="img/detai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81328"/>
            <a:ext cx="4734617" cy="431596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923337" y="1481328"/>
            <a:ext cx="5628278" cy="914400"/>
          </a:xfrm>
          <a:prstGeom prst="roundRect">
            <a:avLst>
              <a:gd name="adj" fmla="val 7000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234233" y="1627632"/>
            <a:ext cx="50064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설치 확인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234233" y="1938528"/>
            <a:ext cx="500648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“설치” 버튼이 사라지고 “지금 사용해 보기”가 나타납니다.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923337" y="2578608"/>
            <a:ext cx="5628278" cy="914400"/>
          </a:xfrm>
          <a:prstGeom prst="roundRect">
            <a:avLst>
              <a:gd name="adj" fmla="val 7000"/>
            </a:avLst>
          </a:prstGeom>
          <a:solidFill>
            <a:srgbClr val="EEF3FF"/>
          </a:solidFill>
          <a:ln w="12700">
            <a:solidFill>
              <a:srgbClr val="D3E0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234233" y="2724912"/>
            <a:ext cx="50064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14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234233" y="3035808"/>
            <a:ext cx="500648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Brainstorming부터 완료 검증까지 14개 절차가 모두 들어 있습니다.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923337" y="3675888"/>
            <a:ext cx="5628278" cy="914400"/>
          </a:xfrm>
          <a:prstGeom prst="roundRect">
            <a:avLst>
              <a:gd name="adj" fmla="val 7000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34233" y="3822192"/>
            <a:ext cx="50064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개별 제어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6234233" y="4133088"/>
            <a:ext cx="500648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각 Skill 오른쪽 스위치로 필요한 절차만 켤 수 있습니다.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923337" y="4773168"/>
            <a:ext cx="5628278" cy="914400"/>
          </a:xfrm>
          <a:prstGeom prst="roundRect">
            <a:avLst>
              <a:gd name="adj" fmla="val 7000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234233" y="4919472"/>
            <a:ext cx="50064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기능 범위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6234233" y="5230368"/>
            <a:ext cx="500648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설명에 Interactive · Read · Write 권한이 표시됩니다.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6382512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 사용자 Codex 앱 화면 · 2026-09-03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F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어떻게 쓰는가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109115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Brainstorming은 바로 코딩하지 않고 하나씩 묻습니다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1064240" y="384048"/>
            <a:ext cx="4846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85216" y="1426464"/>
            <a:ext cx="6236208" cy="4235304"/>
          </a:xfrm>
          <a:prstGeom prst="roundRect">
            <a:avLst>
              <a:gd name="adj" fmla="val 1295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pic>
        <p:nvPicPr>
          <p:cNvPr id="6" name="Image 0" descr="img/cha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81328"/>
            <a:ext cx="6126480" cy="412557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315200" y="1481328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2F6BF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315200" y="14813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7808976" y="1472184"/>
            <a:ext cx="37426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아이디어 입력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808976" y="1783080"/>
            <a:ext cx="37426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“간단한 할 일 웹앱을 만들고 싶어.”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7315200" y="2505456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2F6BF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315200" y="250545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7808976" y="2496312"/>
            <a:ext cx="37426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지정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7808976" y="2807208"/>
            <a:ext cx="37426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Brainstorming을 쓰고, 승인 전에는 구현하지 말라고 요청합니다.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7315200" y="3529584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2F6BFF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7315200" y="35295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7808976" y="3520440"/>
            <a:ext cx="37426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한 번에 한 질문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7808976" y="3831336"/>
            <a:ext cx="37426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먼저 “주 사용자가 누구인지” 하나만 묻습니다.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7315200" y="4553712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2F6BF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7315200" y="45537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7808976" y="4544568"/>
            <a:ext cx="37426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범위가 좁아짐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7808976" y="4855464"/>
            <a:ext cx="37426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개인용 · 핵심 기능 · 저장 방식을 순서대로 결정합니다.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7315200" y="5559552"/>
            <a:ext cx="4236415" cy="658368"/>
          </a:xfrm>
          <a:prstGeom prst="roundRect">
            <a:avLst>
              <a:gd name="adj" fmla="val 8333"/>
            </a:avLst>
          </a:prstGeom>
          <a:solidFill>
            <a:srgbClr val="EEF3FF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7571232" y="5559552"/>
            <a:ext cx="3724351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4F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승인 전에는 구현하지 않는다 — 이것이 절차의 핵심입니다.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640080" y="6382512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Brainstorming 실제 대화 · 2026-09-03 · github.com/obra/superpowers/tree/main/skills/brainstorming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F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어떻게 쓰는가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109115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질문이 끝나면 대안을 비교하고 하나를 추천합니다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1064240" y="384048"/>
            <a:ext cx="4846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85216" y="1426464"/>
            <a:ext cx="7150608" cy="3678344"/>
          </a:xfrm>
          <a:prstGeom prst="roundRect">
            <a:avLst>
              <a:gd name="adj" fmla="val 1492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pic>
        <p:nvPicPr>
          <p:cNvPr id="6" name="Image 0" descr="img/opt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81328"/>
            <a:ext cx="7040880" cy="356861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229600" y="1481328"/>
            <a:ext cx="3322015" cy="1005840"/>
          </a:xfrm>
          <a:prstGeom prst="roundRect">
            <a:avLst>
              <a:gd name="adj" fmla="val 6364"/>
            </a:avLst>
          </a:prstGeom>
          <a:solidFill>
            <a:srgbClr val="0F1B33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522208" y="1664208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924544" y="1664208"/>
            <a:ext cx="23161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부드러운 카드형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8924544" y="2011680"/>
            <a:ext cx="23161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C3CF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구조가 바로 이해되고 발표 화면에서 안정적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10637215" y="166420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추천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229600" y="2651760"/>
            <a:ext cx="3322015" cy="1005840"/>
          </a:xfrm>
          <a:prstGeom prst="roundRect">
            <a:avLst>
              <a:gd name="adj" fmla="val 6364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522208" y="2834640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8924544" y="2834640"/>
            <a:ext cx="23161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에디토리얼형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8924544" y="3182112"/>
            <a:ext cx="23161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개성은 강하지만 버튼·상태가 덜 직관적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8229600" y="3822192"/>
            <a:ext cx="3322015" cy="1005840"/>
          </a:xfrm>
          <a:prstGeom prst="roundRect">
            <a:avLst>
              <a:gd name="adj" fmla="val 6364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522208" y="400507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8924544" y="4005072"/>
            <a:ext cx="23161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다크 대시보드형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8924544" y="4352544"/>
            <a:ext cx="23161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눈에 띄지만 간단한 실습에는 시각적 무게가 큼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8229600" y="5084064"/>
            <a:ext cx="3322015" cy="914400"/>
          </a:xfrm>
          <a:prstGeom prst="roundRect">
            <a:avLst>
              <a:gd name="adj" fmla="val 6000"/>
            </a:avLst>
          </a:prstGeom>
          <a:solidFill>
            <a:srgbClr val="EEF3FF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503920" y="5248656"/>
            <a:ext cx="27733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4F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선택 후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8503920" y="5522976"/>
            <a:ext cx="277337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73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최종 설계 → Writing Plans → TDD 구현으로 이어집니다.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40080" y="6382512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 시각 방향 비교 화면 · 2026-09-03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F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어떻게 쓰는가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109115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결과보다 중요한 건, 과정이 기록으로 남았다는 점입니다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1064240" y="384048"/>
            <a:ext cx="4846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85216" y="1426464"/>
            <a:ext cx="4867260" cy="4407408"/>
          </a:xfrm>
          <a:prstGeom prst="roundRect">
            <a:avLst>
              <a:gd name="adj" fmla="val 1245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pic>
        <p:nvPicPr>
          <p:cNvPr id="6" name="Image 0" descr="img/resul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81328"/>
            <a:ext cx="4757532" cy="42976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946252" y="1481328"/>
            <a:ext cx="5605363" cy="1170432"/>
          </a:xfrm>
          <a:prstGeom prst="roundRect">
            <a:avLst>
              <a:gd name="adj" fmla="val 5469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275436" y="1682496"/>
            <a:ext cx="49469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 결과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6275436" y="2029968"/>
            <a:ext cx="49469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추가 · 완료 · 삭제와 로컬 저장이 동작하는 웹앱 완성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946252" y="2816352"/>
            <a:ext cx="5605363" cy="1572768"/>
          </a:xfrm>
          <a:prstGeom prst="roundRect">
            <a:avLst>
              <a:gd name="adj" fmla="val 4070"/>
            </a:avLst>
          </a:prstGeom>
          <a:solidFill>
            <a:srgbClr val="0F1B33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275436" y="2999232"/>
            <a:ext cx="49469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검증 결과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6275436" y="3310128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13/13</a:t>
            </a:r>
            <a:endParaRPr lang="en-US" sz="3400" dirty="0"/>
          </a:p>
        </p:txBody>
      </p:sp>
      <p:sp>
        <p:nvSpPr>
          <p:cNvPr id="13" name="Text 10"/>
          <p:cNvSpPr txBox="1"/>
          <p:nvPr/>
        </p:nvSpPr>
        <p:spPr>
          <a:xfrm>
            <a:off x="6275436" y="389534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자동 테스트 통과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8232252" y="3310128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0건</a:t>
            </a:r>
            <a:endParaRPr lang="en-US" sz="3400" dirty="0"/>
          </a:p>
        </p:txBody>
      </p:sp>
      <p:sp>
        <p:nvSpPr>
          <p:cNvPr id="15" name="Text 12"/>
          <p:cNvSpPr txBox="1"/>
          <p:nvPr/>
        </p:nvSpPr>
        <p:spPr>
          <a:xfrm>
            <a:off x="8232252" y="389534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콘솔 오류 · 브라우저 검증 통과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5946252" y="4553712"/>
            <a:ext cx="5605363" cy="1225296"/>
          </a:xfrm>
          <a:prstGeom prst="roundRect">
            <a:avLst>
              <a:gd name="adj" fmla="val 5224"/>
            </a:avLst>
          </a:prstGeom>
          <a:solidFill>
            <a:srgbClr val="EEF3FF"/>
          </a:solidFill>
          <a:ln w="12700">
            <a:solidFill>
              <a:srgbClr val="D3E0F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275436" y="4736592"/>
            <a:ext cx="49469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4F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남은 기록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6275436" y="5084064"/>
            <a:ext cx="494699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73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설계 문서 · 구현 계획 · 테스트 코드 · 기능 브랜치 — 검증 가능한 개발 과정이 그대로 남습니다.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6382512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 구현 결과 · 2026-09-03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8229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60" kern="0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정리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207008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오늘의 결론 3줄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212848"/>
            <a:ext cx="3393338" cy="2487168"/>
          </a:xfrm>
          <a:prstGeom prst="roundRect">
            <a:avLst>
              <a:gd name="adj" fmla="val 2941"/>
            </a:avLst>
          </a:prstGeom>
          <a:solidFill>
            <a:srgbClr val="1B294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24128" y="2487168"/>
            <a:ext cx="26252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F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24128" y="2889504"/>
            <a:ext cx="262524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Superpowers는 개발 절차를 담은 Skill 14개 묶음입니다</a:t>
            </a:r>
            <a:endParaRPr lang="en-US" sz="1550" dirty="0"/>
          </a:p>
        </p:txBody>
      </p:sp>
      <p:sp>
        <p:nvSpPr>
          <p:cNvPr id="7" name="Text 5"/>
          <p:cNvSpPr txBox="1"/>
          <p:nvPr/>
        </p:nvSpPr>
        <p:spPr>
          <a:xfrm>
            <a:off x="1024128" y="3931920"/>
            <a:ext cx="26252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FB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기능이 아니라 “일하는 순서”를 제공합니다.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99178" y="2212848"/>
            <a:ext cx="3393338" cy="2487168"/>
          </a:xfrm>
          <a:prstGeom prst="roundRect">
            <a:avLst>
              <a:gd name="adj" fmla="val 2941"/>
            </a:avLst>
          </a:prstGeom>
          <a:solidFill>
            <a:srgbClr val="1B294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783226" y="2487168"/>
            <a:ext cx="26252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F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783226" y="2889504"/>
            <a:ext cx="262524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Codex는 그 절차대로 계획하고, 만들고, 검증합니다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4783226" y="3931920"/>
            <a:ext cx="26252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FB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모델이 요청과 Skill 설명을 비교해 알아서 고릅니다.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158277" y="2212848"/>
            <a:ext cx="3393338" cy="2487168"/>
          </a:xfrm>
          <a:prstGeom prst="roundRect">
            <a:avLst>
              <a:gd name="adj" fmla="val 2941"/>
            </a:avLst>
          </a:prstGeom>
          <a:solidFill>
            <a:srgbClr val="1B294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542325" y="2487168"/>
            <a:ext cx="26252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F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8542325" y="2889504"/>
            <a:ext cx="262524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우리에게는 결과물과 함께 과정이 남습니다</a:t>
            </a:r>
            <a:endParaRPr lang="en-US" sz="1550" dirty="0"/>
          </a:p>
        </p:txBody>
      </p:sp>
      <p:sp>
        <p:nvSpPr>
          <p:cNvPr id="15" name="Text 13"/>
          <p:cNvSpPr txBox="1"/>
          <p:nvPr/>
        </p:nvSpPr>
        <p:spPr>
          <a:xfrm>
            <a:off x="8542325" y="3931920"/>
            <a:ext cx="26252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FB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설계 · 계획 · 테스트 · 브랜치가 기록으로 남습니다.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5193792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B8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github.com/obra/superpowers   ·   learn.chatgpt.com/ko-KR/docs/skills-and-plugins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5705856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감사합니다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GitHub Superpowers x Codex</dc:title>
  <dc:subject>PptxGenJS Presentation</dc:subject>
  <dc:creator>Superpowers 발표</dc:creator>
  <cp:lastModifiedBy>Superpowers 발표</cp:lastModifiedBy>
  <cp:revision>1</cp:revision>
  <dcterms:created xsi:type="dcterms:W3CDTF">2026-09-03T08:11:06Z</dcterms:created>
  <dcterms:modified xsi:type="dcterms:W3CDTF">2026-09-03T08:11:06Z</dcterms:modified>
</cp:coreProperties>
</file>